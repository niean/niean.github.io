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164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大家好，今天我将向大家介绍我们关于“Skill承载模型”的核心思想。我们的核心观点非常明确：核心能力服务端化，边缘能力本地化，本地绝不承载领域核心逻辑。我们称之为“Server-first, Edge augmentation”模式。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具体来说，我们将Skill分为两类。服务端Skill是我们能力的核心载体，是唯一的权威来源。它负责处理核心业务逻辑、复杂推理和持续演进的能力，其优势在于集中治理、高可观测性、安全可控和易于商业化。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而本地Skill，则扮演着体验层、加速层和适配层的角色。它负责处理一些工具型、轻量级的能力，主要价值在于降低延迟、支持离线和降低服务端成本。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为什么我们强调本地不应承载核心能力呢？因为这样做会带来一系列系统性风险：治理失控、观测缺失、安全风险、演进受限以及商业化瓶颈。本质上，这会让我们的架构退化为难以维护的“插件式架构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当然，凡事都有例外。在强隐私、强实时、离线或高成本高频等特殊场景下，本地承载是必要的，但即便如此，本地能力也应该是“裁剪版”或“缓存版”，而不是权威版本。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因此，我们推荐的架构模式是“服务端优先，边缘增强”。服务端负责定义和演进能力，本地负责调用和优化体验。这确保了我们平台的稳健性、可控性和持续演进能力。谢谢大家。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9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9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9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9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9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i="0" u="none" strike="noStrike">
                <a:solidFill>
                  <a:schemeClr val="tx1">
                    <a:lumMod val="50000"/>
                    <a:lumOff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Skill 承载模型</a:t>
            </a:r>
            <a:r>
              <a:rPr lang="en-US" sz="4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en-US" sz="4000" b="1" i="0" u="none" strike="noStrike">
                <a:solidFill>
                  <a:schemeClr val="accent6"/>
                </a:solidFill>
                <a:latin typeface="Noto Sans SC"/>
                <a:ea typeface="Noto Sans SC"/>
                <a:cs typeface="Noto Sans SC"/>
                <a:sym typeface="Noto Sans SC"/>
              </a:rPr>
              <a:t>Server-First</a:t>
            </a:r>
            <a:endParaRPr lang="en-US" sz="4000" b="1" i="0" u="none" strike="noStrike">
              <a:solidFill>
                <a:schemeClr val="accent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13333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rgbClr val="10B981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952500" y="1524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chemeClr val="tx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核心能力服务端化，本地不承载领域核心逻辑</a:t>
            </a:r>
            <a:endParaRPr lang="en-US" sz="1600" b="1" i="0" u="none" strike="noStrike">
              <a:solidFill>
                <a:schemeClr val="tx1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2500" y="2603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905000" y="2603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服务端 Skill (主承载)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3048000"/>
            <a:ext cx="374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定位：领域能力的核心载体，唯一权威源 (Source of Truth)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i="0" u="none" strike="noStrike">
                <a:solidFill>
                  <a:schemeClr val="tx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• 适用：核心业务逻辑 / 复杂推理 / 持续演进 / 知识沉淀</a:t>
            </a:r>
            <a:endParaRPr lang="en-US" sz="1100" i="0" u="none" strike="noStrike">
              <a:solidFill>
                <a:schemeClr val="tx2">
                  <a:lumMod val="2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100" i="0" u="none" strike="noStrike">
                <a:solidFill>
                  <a:schemeClr val="tx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• 优势：集中治理 · 高可观测 · 安全可控 · 易于商业化</a:t>
            </a:r>
            <a:endParaRPr lang="en-US" sz="1100" i="0" u="none" strike="noStrike">
              <a:solidFill>
                <a:schemeClr val="tx2">
                  <a:lumMod val="2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2413000"/>
            <a:ext cx="5207000" cy="2222500"/>
          </a:xfrm>
          <a:prstGeom prst="roundRect">
            <a:avLst>
              <a:gd name="adj" fmla="val 6857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 l="13124" r="13125"/>
          <a:stretch>
            <a:fillRect/>
          </a:stretch>
        </p:blipFill>
        <p:spPr>
          <a:xfrm>
            <a:off x="6413500" y="2603500"/>
            <a:ext cx="762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7366000" y="2603500"/>
            <a:ext cx="368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 Skill (边缘)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366000" y="3048000"/>
            <a:ext cx="37465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10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定位：体验层、加速层、适配层，是能力的延伸而非核心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• </a:t>
            </a:r>
            <a:r>
              <a:rPr lang="en-US" sz="1100" i="0" u="none" strike="noStrike">
                <a:solidFill>
                  <a:schemeClr val="tx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适用：工具增强 / 访问代理(Proxy) / 轻量缓存与规则</a:t>
            </a:r>
            <a:endParaRPr lang="en-US" sz="1100" i="0" u="none" strike="noStrike">
              <a:solidFill>
                <a:schemeClr val="tx2">
                  <a:lumMod val="2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100" i="0" u="none" strike="noStrike">
                <a:solidFill>
                  <a:schemeClr val="tx2">
                    <a:lumMod val="2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• 价值：Skill适配、分担计算成本</a:t>
            </a:r>
            <a:endParaRPr lang="en-US" sz="1100" i="0" u="none" strike="noStrike">
              <a:solidFill>
                <a:schemeClr val="tx2">
                  <a:lumMod val="25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4826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50165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1778000" y="4953000"/>
            <a:ext cx="3937000" cy="120904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本地不应承载核心能力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chemeClr val="tx2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治理失控 | 观测缺失 | 安全泄露 | 演进受限 | 商业瓶颈</a:t>
            </a:r>
            <a:endParaRPr lang="en-US" sz="1100" b="0" i="0" u="none" strike="noStrike">
              <a:solidFill>
                <a:schemeClr val="tx2">
                  <a:lumMod val="5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100" i="0" u="none" strike="noStrike">
                <a:solidFill>
                  <a:schemeClr val="tx2">
                    <a:lumMod val="50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⚠️ 本质：退化为“浏览器插件架构”，丧失平台核心控制力</a:t>
            </a:r>
            <a:endParaRPr lang="en-US" sz="1100" i="0" u="none" strike="noStrike">
              <a:solidFill>
                <a:schemeClr val="tx2">
                  <a:lumMod val="50000"/>
                </a:schemeClr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4826000"/>
            <a:ext cx="5207000" cy="1841500"/>
          </a:xfrm>
          <a:prstGeom prst="roundRect">
            <a:avLst>
              <a:gd name="adj" fmla="val 827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13500" y="5016500"/>
            <a:ext cx="635000" cy="635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9" name="AutoShape 19"/>
          <p:cNvSpPr/>
          <p:nvPr/>
        </p:nvSpPr>
        <p:spPr>
          <a:xfrm>
            <a:off x="7239000" y="4953000"/>
            <a:ext cx="3937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推荐架构：</a:t>
            </a:r>
            <a:r>
              <a:rPr lang="en-US" sz="1600" b="1" i="0" u="none" strike="noStrike">
                <a:solidFill>
                  <a:schemeClr val="accent6">
                    <a:lumMod val="75000"/>
                  </a:schemeClr>
                </a:solidFill>
                <a:latin typeface="Noto Sans SC"/>
                <a:ea typeface="Noto Sans SC"/>
                <a:cs typeface="Noto Sans SC"/>
                <a:sym typeface="Noto Sans SC"/>
              </a:rPr>
              <a:t>Server-First</a:t>
            </a:r>
            <a:endParaRPr lang="en-US" sz="1100" b="1">
              <a:solidFill>
                <a:schemeClr val="accent6">
                  <a:lumMod val="75000"/>
                </a:schemeClr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Server: 定义与演进领域能力</a:t>
            </a:r>
            <a:endParaRPr lang="en-US" sz="11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Local/Edge: 个人工具(类似Ops脚本)，访问代理，等</a:t>
            </a:r>
            <a:endParaRPr lang="en-US" sz="11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</Words>
  <Application>WPS 演示</Application>
  <PresentationFormat/>
  <Paragraphs>25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Thonburi</vt:lpstr>
      <vt:lpstr>宋体</vt:lpstr>
      <vt:lpstr>汉仪书宋二KW</vt:lpstr>
      <vt:lpstr>Apple Color Emoji</vt:lpstr>
      <vt:lpstr>微软雅黑</vt:lpstr>
      <vt:lpstr>汉仪旗黑</vt:lpstr>
      <vt:lpstr>Arial Unicode MS</vt:lpstr>
      <vt:lpstr>Noto Sans SC</vt:lpstr>
      <vt:lpstr>苹方-简</vt:lpstr>
      <vt:lpstr>Office 主题​​</vt:lpstr>
      <vt:lpstr>默认主题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聂安</cp:lastModifiedBy>
  <cp:revision>6</cp:revision>
  <dcterms:created xsi:type="dcterms:W3CDTF">2026-04-27T01:35:30Z</dcterms:created>
  <dcterms:modified xsi:type="dcterms:W3CDTF">2026-04-27T01:35:30Z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7C54CCFA19E4849C93BCEE69CA560091_42</vt:lpwstr>
  </property>
  <property fmtid="{D5CDD505-2E9C-101B-9397-08002B2CF9AE}" pid="3" name="KSOProductBuildVer">
    <vt:lpwstr>2052-12.1.24709.24709</vt:lpwstr>
  </property>
</Properties>
</file>